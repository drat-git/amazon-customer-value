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589659822545ef" /><Relationship Type="http://schemas.openxmlformats.org/officeDocument/2006/relationships/extended-properties" Target="/docProps/app.xml" Id="Rc1090b7c8c614c4e" /><Relationship Type="http://schemas.openxmlformats.org/officeDocument/2006/relationships/officeDocument" Target="/ppt/presentation.xml" Id="R99873c54a52f4f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be71905bcf4655"/>
  </p:sldMasterIdLst>
  <p:notesMasterIdLst>
    <p:notesMasterId xmlns:r="http://schemas.openxmlformats.org/officeDocument/2006/relationships" r:id="R074696cec72d4bc5"/>
  </p:notesMasterIdLst>
  <p:sldIdLst>
    <p:sldId xmlns:r="http://schemas.openxmlformats.org/officeDocument/2006/relationships" id="256" r:id="Rc727f2e1ce594a3f"/>
    <p:sldId xmlns:r="http://schemas.openxmlformats.org/officeDocument/2006/relationships" id="257" r:id="R42d897faefbb4c9f"/>
    <p:sldId xmlns:r="http://schemas.openxmlformats.org/officeDocument/2006/relationships" id="258" r:id="R2e063588be1a4482"/>
    <p:sldId xmlns:r="http://schemas.openxmlformats.org/officeDocument/2006/relationships" id="259" r:id="R81f2161559944a6a"/>
    <p:sldId xmlns:r="http://schemas.openxmlformats.org/officeDocument/2006/relationships" id="260" r:id="Rbeff80134a36423d"/>
    <p:sldId xmlns:r="http://schemas.openxmlformats.org/officeDocument/2006/relationships" id="261" r:id="R44bf65b1551b42ae"/>
    <p:sldId xmlns:r="http://schemas.openxmlformats.org/officeDocument/2006/relationships" id="262" r:id="Rccdbb4c2b3894d1a"/>
    <p:sldId xmlns:r="http://schemas.openxmlformats.org/officeDocument/2006/relationships" id="263" r:id="R7689c2291f594e7f"/>
    <p:sldId xmlns:r="http://schemas.openxmlformats.org/officeDocument/2006/relationships" id="264" r:id="Rc780f6a2a4ab45d4"/>
    <p:sldId xmlns:r="http://schemas.openxmlformats.org/officeDocument/2006/relationships" id="265" r:id="R7d8765d8ef544adb"/>
    <p:sldId xmlns:r="http://schemas.openxmlformats.org/officeDocument/2006/relationships" id="266" r:id="R62b3d17a3cbd4a2a"/>
    <p:sldId xmlns:r="http://schemas.openxmlformats.org/officeDocument/2006/relationships" id="267" r:id="R067b2bf07fae4a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d1c0927cbe4896" /><Relationship Type="http://schemas.openxmlformats.org/officeDocument/2006/relationships/slideMaster" Target="/ppt/slideMasters/slideMaster1.xml" Id="R82be71905bcf4655" /><Relationship Type="http://schemas.openxmlformats.org/officeDocument/2006/relationships/notesMaster" Target="/ppt/notesMasters/notesMaster1.xml" Id="R074696cec72d4bc5" /><Relationship Type="http://schemas.openxmlformats.org/officeDocument/2006/relationships/presProps" Target="/ppt/presProps.xml" Id="Ra490b88f8efb414a" /><Relationship Type="http://schemas.openxmlformats.org/officeDocument/2006/relationships/tableStyles" Target="/ppt/tableStyles.xml" Id="R2287eb68ecfb4065" /><Relationship Type="http://schemas.openxmlformats.org/officeDocument/2006/relationships/slide" Target="/ppt/slides/slide1.xml" Id="Rc727f2e1ce594a3f" /><Relationship Type="http://schemas.openxmlformats.org/officeDocument/2006/relationships/slide" Target="/ppt/slides/slide2.xml" Id="R42d897faefbb4c9f" /><Relationship Type="http://schemas.openxmlformats.org/officeDocument/2006/relationships/slide" Target="/ppt/slides/slide3.xml" Id="R2e063588be1a4482" /><Relationship Type="http://schemas.openxmlformats.org/officeDocument/2006/relationships/slide" Target="/ppt/slides/slide4.xml" Id="R81f2161559944a6a" /><Relationship Type="http://schemas.openxmlformats.org/officeDocument/2006/relationships/slide" Target="/ppt/slides/slide5.xml" Id="Rbeff80134a36423d" /><Relationship Type="http://schemas.openxmlformats.org/officeDocument/2006/relationships/slide" Target="/ppt/slides/slide6.xml" Id="R44bf65b1551b42ae" /><Relationship Type="http://schemas.openxmlformats.org/officeDocument/2006/relationships/slide" Target="/ppt/slides/slide7.xml" Id="Rccdbb4c2b3894d1a" /><Relationship Type="http://schemas.openxmlformats.org/officeDocument/2006/relationships/slide" Target="/ppt/slides/slide8.xml" Id="R7689c2291f594e7f" /><Relationship Type="http://schemas.openxmlformats.org/officeDocument/2006/relationships/slide" Target="/ppt/slides/slide9.xml" Id="Rc780f6a2a4ab45d4" /><Relationship Type="http://schemas.openxmlformats.org/officeDocument/2006/relationships/slide" Target="/ppt/slides/slide10.xml" Id="R7d8765d8ef544adb" /><Relationship Type="http://schemas.openxmlformats.org/officeDocument/2006/relationships/slide" Target="/ppt/slides/slide11.xml" Id="R62b3d17a3cbd4a2a" /><Relationship Type="http://schemas.openxmlformats.org/officeDocument/2006/relationships/slide" Target="/ppt/slides/slide12.xml" Id="R067b2bf07fae4a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8542d42bc549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a6195fa92b4373" /><Relationship Type="http://schemas.openxmlformats.org/officeDocument/2006/relationships/notesMaster" Target="/ppt/notesMasters/notesMaster1.xml" Id="Rf5e4c56522284f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8320079fee4195" /><Relationship Type="http://schemas.openxmlformats.org/officeDocument/2006/relationships/notesMaster" Target="/ppt/notesMasters/notesMaster1.xml" Id="Rf75069c226884b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874f6ecef04de7" /><Relationship Type="http://schemas.openxmlformats.org/officeDocument/2006/relationships/notesMaster" Target="/ppt/notesMasters/notesMaster1.xml" Id="R2fd25de3962f43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b68d5171244b11" /><Relationship Type="http://schemas.openxmlformats.org/officeDocument/2006/relationships/notesMaster" Target="/ppt/notesMasters/notesMaster1.xml" Id="R129f9dfd418b49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a3374d49a84e19" /><Relationship Type="http://schemas.openxmlformats.org/officeDocument/2006/relationships/notesMaster" Target="/ppt/notesMasters/notesMaster1.xml" Id="Rba0bcb68770b45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cf900e67464d8d" /><Relationship Type="http://schemas.openxmlformats.org/officeDocument/2006/relationships/notesMaster" Target="/ppt/notesMasters/notesMaster1.xml" Id="R5f1eac2bf38a40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954a33e3f64337" /><Relationship Type="http://schemas.openxmlformats.org/officeDocument/2006/relationships/notesMaster" Target="/ppt/notesMasters/notesMaster1.xml" Id="R13d21d29b5ca47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665f1517dd4530" /><Relationship Type="http://schemas.openxmlformats.org/officeDocument/2006/relationships/notesMaster" Target="/ppt/notesMasters/notesMaster1.xml" Id="R59973d2e0c4348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19ea6434b0c4a59" /><Relationship Type="http://schemas.openxmlformats.org/officeDocument/2006/relationships/notesMaster" Target="/ppt/notesMasters/notesMaster1.xml" Id="R990e03ee47c94f7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3757ea14b84349" /><Relationship Type="http://schemas.openxmlformats.org/officeDocument/2006/relationships/notesMaster" Target="/ppt/notesMasters/notesMaster1.xml" Id="Re72619ef2fab410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d8a7d4ae1b0443b" /><Relationship Type="http://schemas.openxmlformats.org/officeDocument/2006/relationships/notesMaster" Target="/ppt/notesMasters/notesMaster1.xml" Id="Rfaa864a9e2744fd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9506b9f97a74f68" /><Relationship Type="http://schemas.openxmlformats.org/officeDocument/2006/relationships/notesMaster" Target="/ppt/notesMasters/notesMaster1.xml" Id="Rcb60477ce1994c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Data: Berke et al. (2024), Scientific Data 11, 491. https://www.nature.com/articles/s41597-024-03329-6 . Harvard Dataverse v1.0, CC0 1.0. https://doi.org/10.7910/DVN/YGLYDY . Analysis: saved project run amazon-clv-1.0-6efb098a6e, seed 42. All spending figures are recorded customer purchase value, not Amazon net revenue/profit or incremental campaign revenue.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Data: Berke et al. (2024), Scientific Data 11, 491. https://www.nature.com/articles/s41597-024-03329-6 . Harvard Dataverse v1.0, CC0 1.0. https://doi.org/10.7910/DVN/YGLYDY . Analysis: saved project run amazon-clv-1.0-6efb098a6e, seed 42. All spending figures are recorded customer purchase value, not Amazon net revenue/profit or incremental campaign revenue.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Data: Berke et al. (2024), Scientific Data 11, 491. https://www.nature.com/articles/s41597-024-03329-6 . Harvard Dataverse v1.0, CC0 1.0. https://doi.org/10.7910/DVN/YGLYDY . Analysis: saved project run amazon-clv-1.0-6efb098a6e, seed 42. All spending figures are recorded customer purchase value, not Amazon net revenue/profit or incremental campaign revenue.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Data: Berke et al. (2024), Scientific Data 11, 491. https://www.nature.com/articles/s41597-024-03329-6 . Harvard Dataverse v1.0, CC0 1.0. https://doi.org/10.7910/DVN/YGLYDY . Analysis: saved project run amazon-clv-1.0-6efb098a6e, seed 42. All spending figures are recorded customer purchase value, not Amazon net revenue/profit or incremental campaign revenue.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Data: Berke et al. (2024), Scientific Data 11, 491. https://www.nature.com/articles/s41597-024-03329-6 . Harvard Dataverse v1.0, CC0 1.0. https://doi.org/10.7910/DVN/YGLYDY . Analysis: saved project run amazon-clv-1.0-6efb098a6e, seed 42. All spending figures are recorded customer purchase value, not Amazon net revenue/profit or incremental campaign revenue.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Data: Berke et al. (2024), Scientific Data 11, 491. https://www.nature.com/articles/s41597-024-03329-6 . Harvard Dataverse v1.0, CC0 1.0. https://doi.org/10.7910/DVN/YGLYDY . Analysis: saved project run amazon-clv-1.0-6efb098a6e, seed 42. All spending figures are recorded customer purchase value, not Amazon net revenue/profit or incremental campaign revenue.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Data: Berke et al. (2024), Scientific Data 11, 491. https://www.nature.com/articles/s41597-024-03329-6 . Harvard Dataverse v1.0, CC0 1.0. https://doi.org/10.7910/DVN/YGLYDY . Analysis: saved project run amazon-clv-1.0-6efb098a6e, seed 42. All spending figures are recorded customer purchase value, not Amazon net revenue/profit or incremental campaign revenue.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Data: Berke et al. (2024), Scientific Data 11, 491. https://www.nature.com/articles/s41597-024-03329-6 . Harvard Dataverse v1.0, CC0 1.0. https://doi.org/10.7910/DVN/YGLYDY . Analysis: saved project run amazon-clv-1.0-6efb098a6e, seed 42. All spending figures are recorded customer purchase value, not Amazon net revenue/profit or incremental campaign revenue.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Data: Berke et al. (2024), Scientific Data 11, 491. https://www.nature.com/articles/s41597-024-03329-6 . Harvard Dataverse v1.0, CC0 1.0. https://doi.org/10.7910/DVN/YGLYDY . Analysis: saved project run amazon-clv-1.0-6efb098a6e, seed 42. All spending figures are recorded customer purchase value, not Amazon net revenue/profit or incremental campaign revenue.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Data: Berke et al. (2024), Scientific Data 11, 491. https://www.nature.com/articles/s41597-024-03329-6 . Harvard Dataverse v1.0, CC0 1.0. https://doi.org/10.7910/DVN/YGLYDY . Analysis: saved project run amazon-clv-1.0-6efb098a6e, seed 42. All spending figures are recorded customer purchase value, not Amazon net revenue/profit or incremental campaign revenue.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Data: Berke et al. (2024), Scientific Data 11, 491. https://www.nature.com/articles/s41597-024-03329-6 . Harvard Dataverse v1.0, CC0 1.0. https://doi.org/10.7910/DVN/YGLYDY . Analysis: saved project run amazon-clv-1.0-6efb098a6e, seed 42. All spending figures are recorded customer purchase value, not Amazon net revenue/profit or incremental campaign revenue.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Data: Berke et al. (2024), Scientific Data 11, 491. https://www.nature.com/articles/s41597-024-03329-6 . Harvard Dataverse v1.0, CC0 1.0. https://doi.org/10.7910/DVN/YGLYDY . Analysis: saved project run amazon-clv-1.0-6efb098a6e, seed 42. All spending figures are recorded customer purchase value, not Amazon net revenue/profit or incremental campaign revenue.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9ee5020e66422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0afc79bc554a7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45d08add694bc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30e0c48f2942a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1bc0366a9f460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9d1ac2f64141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54687D-C67C-43AE-8586-05E59A7550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C17D509-CF5F-4E4C-B798-DD358C77747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CA2EBB0-47B7-4144-95D6-4774171142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A6CF8D-7E71-42B8-B83D-52A23B5942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9F866FD-21CC-4222-B02D-44B8935A9C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56DED3D-338F-4102-A2C3-0BB9ECA89C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8ED3167-084B-472F-B8E6-8A7AB3711F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783F39D-555F-484E-8730-6DF308B37EA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086D19-5ABB-4B6D-BB38-994B1A0E2C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2056867-F43D-4E39-8251-9B045D5C19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ce3e16a61948c2" /><Relationship Type="http://schemas.openxmlformats.org/officeDocument/2006/relationships/slideLayout" Target="/ppt/slideLayouts/slideLayout1.xml" Id="R285c1c65496546b3" /><Relationship Type="http://schemas.openxmlformats.org/officeDocument/2006/relationships/slideLayout" Target="/ppt/slideLayouts/slideLayout2.xml" Id="Rea7fa5ae09214b8a" /><Relationship Type="http://schemas.openxmlformats.org/officeDocument/2006/relationships/slideLayout" Target="/ppt/slideLayouts/slideLayout3.xml" Id="R6695591d196d4512" /><Relationship Type="http://schemas.openxmlformats.org/officeDocument/2006/relationships/slideLayout" Target="/ppt/slideLayouts/slideLayout4.xml" Id="R666486cbfe424dc8" /><Relationship Type="http://schemas.openxmlformats.org/officeDocument/2006/relationships/slideLayout" Target="/ppt/slideLayouts/slideLayout5.xml" Id="R037ce9eb69374509" /><Relationship Type="http://schemas.openxmlformats.org/officeDocument/2006/relationships/slideLayout" Target="/ppt/slideLayouts/slideLayout6.xml" Id="Rf27c94c8ba8749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5c1c65496546b3"/>
    <p:sldLayoutId xmlns:r="http://schemas.openxmlformats.org/officeDocument/2006/relationships" id="2147483650" r:id="Rea7fa5ae09214b8a"/>
    <p:sldLayoutId xmlns:r="http://schemas.openxmlformats.org/officeDocument/2006/relationships" id="2147483651" r:id="R6695591d196d4512"/>
    <p:sldLayoutId xmlns:r="http://schemas.openxmlformats.org/officeDocument/2006/relationships" id="2147483652" r:id="R666486cbfe424dc8"/>
    <p:sldLayoutId xmlns:r="http://schemas.openxmlformats.org/officeDocument/2006/relationships" id="2147483653" r:id="R037ce9eb69374509"/>
    <p:sldLayoutId xmlns:r="http://schemas.openxmlformats.org/officeDocument/2006/relationships" id="2147483654" r:id="Rf27c94c8ba8749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84982ee6cd4553" /><Relationship Type="http://schemas.openxmlformats.org/officeDocument/2006/relationships/notesSlide" Target="/ppt/notesSlides/notesSlide1.xml" Id="Rc14a2f56441643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7964dc5f834f5c" /><Relationship Type="http://schemas.openxmlformats.org/officeDocument/2006/relationships/notesSlide" Target="/ppt/notesSlides/notesSlide2.xml" Id="Re866d319c54a4f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0da07ce7264a8e" /><Relationship Type="http://schemas.openxmlformats.org/officeDocument/2006/relationships/chart" Target="/ppt/slides/charts/chart1.xml" Id="R46f00b7841f442c2" /><Relationship Type="http://schemas.openxmlformats.org/officeDocument/2006/relationships/notesSlide" Target="/ppt/notesSlides/notesSlide3.xml" Id="R408bf42ecc554a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5723f18c6a4756" /><Relationship Type="http://schemas.openxmlformats.org/officeDocument/2006/relationships/notesSlide" Target="/ppt/notesSlides/notesSlide4.xml" Id="Rc272975a2d6f42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1ef4c96b3449f2" /><Relationship Type="http://schemas.openxmlformats.org/officeDocument/2006/relationships/notesSlide" Target="/ppt/notesSlides/notesSlide5.xml" Id="R476c5ddec55e48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d6c11cb6454914" /><Relationship Type="http://schemas.openxmlformats.org/officeDocument/2006/relationships/chart" Target="/ppt/slides/charts/chart2.xml" Id="R4d307c15c4634aba" /><Relationship Type="http://schemas.openxmlformats.org/officeDocument/2006/relationships/chart" Target="/ppt/slides/charts/chart3.xml" Id="Re7eb33bb5462460f" /><Relationship Type="http://schemas.openxmlformats.org/officeDocument/2006/relationships/notesSlide" Target="/ppt/notesSlides/notesSlide6.xml" Id="R79c60bb22b0249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de58785f5342e1" /><Relationship Type="http://schemas.openxmlformats.org/officeDocument/2006/relationships/notesSlide" Target="/ppt/notesSlides/notesSlide7.xml" Id="R058f1de71c224c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2b0448f52747e5" /><Relationship Type="http://schemas.openxmlformats.org/officeDocument/2006/relationships/chart" Target="/ppt/slides/charts/chart4.xml" Id="R52e111446047494a" /><Relationship Type="http://schemas.openxmlformats.org/officeDocument/2006/relationships/chart" Target="/ppt/slides/charts/chart5.xml" Id="Rb01aaa22f91946f8" /><Relationship Type="http://schemas.openxmlformats.org/officeDocument/2006/relationships/notesSlide" Target="/ppt/notesSlides/notesSlide8.xml" Id="Rcb5ed6758d9f47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562ff10f83418a" /><Relationship Type="http://schemas.openxmlformats.org/officeDocument/2006/relationships/chart" Target="/ppt/slides/charts/chart6.xml" Id="Rb9aea7ed89a845e8" /><Relationship Type="http://schemas.openxmlformats.org/officeDocument/2006/relationships/chart" Target="/ppt/slides/charts/chart7.xml" Id="Rd5a580b1f5cf4f50" /><Relationship Type="http://schemas.openxmlformats.org/officeDocument/2006/relationships/notesSlide" Target="/ppt/notesSlides/notesSlide9.xml" Id="R1aef8a8644344ef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d0a1244a034c80" /><Relationship Type="http://schemas.openxmlformats.org/officeDocument/2006/relationships/chart" Target="/ppt/slides/charts/chart8.xml" Id="R4194cd664900457d" /><Relationship Type="http://schemas.openxmlformats.org/officeDocument/2006/relationships/chart" Target="/ppt/slides/charts/chart9.xml" Id="Rb97aeab460e741d5" /><Relationship Type="http://schemas.openxmlformats.org/officeDocument/2006/relationships/notesSlide" Target="/ppt/notesSlides/notesSlide10.xml" Id="R41d98cd6923e4a7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8674c5beab4003" /><Relationship Type="http://schemas.openxmlformats.org/officeDocument/2006/relationships/notesSlide" Target="/ppt/notesSlides/notesSlide11.xml" Id="R728e1871994a40e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8f878cc0fc4937" /><Relationship Type="http://schemas.openxmlformats.org/officeDocument/2006/relationships/notesSlide" Target="/ppt/notesSlides/notesSlide12.xml" Id="R4f583c18cfab430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Share of recorded spending</c:v>
          </c:tx>
          <c:spPr>
            <a:ln xmlns:a="http://schemas.openxmlformats.org/drawingml/2006/main" w="28575">
              <a:solidFill>
                <a:srgbClr val="087E83"/>
              </a:solidFill>
              <a:prstDash val="solid"/>
            </a:ln>
          </c:spPr>
          <c:marker>
            <c:symbol val="none"/>
          </c:marker>
          <c:cat>
            <c:strRef>
              <c:f>'Chart Data'!$A$2:$A$22</c:f>
              <c:strCache>
                <c:ptCount val="21"/>
                <c:pt idx="0">
                  <c:v>0.0%</c:v>
                </c:pt>
                <c:pt idx="1">
                  <c:v>5.0%</c:v>
                </c:pt>
                <c:pt idx="2">
                  <c:v>10.0%</c:v>
                </c:pt>
                <c:pt idx="3">
                  <c:v>15.0%</c:v>
                </c:pt>
                <c:pt idx="4">
                  <c:v>20.0%</c:v>
                </c:pt>
                <c:pt idx="5">
                  <c:v>25.0%</c:v>
                </c:pt>
                <c:pt idx="6">
                  <c:v>30.0%</c:v>
                </c:pt>
                <c:pt idx="7">
                  <c:v>35.0%</c:v>
                </c:pt>
                <c:pt idx="8">
                  <c:v>40.0%</c:v>
                </c:pt>
                <c:pt idx="9">
                  <c:v>45.0%</c:v>
                </c:pt>
                <c:pt idx="10">
                  <c:v>50.0%</c:v>
                </c:pt>
                <c:pt idx="11">
                  <c:v>55.0%</c:v>
                </c:pt>
                <c:pt idx="12">
                  <c:v>60.0%</c:v>
                </c:pt>
                <c:pt idx="13">
                  <c:v>65.0%</c:v>
                </c:pt>
                <c:pt idx="14">
                  <c:v>70.0%</c:v>
                </c:pt>
                <c:pt idx="15">
                  <c:v>75.0%</c:v>
                </c:pt>
                <c:pt idx="16">
                  <c:v>80.0%</c:v>
                </c:pt>
                <c:pt idx="17">
                  <c:v>85.0%</c:v>
                </c:pt>
                <c:pt idx="18">
                  <c:v>90.0%</c:v>
                </c:pt>
                <c:pt idx="19">
                  <c:v>95.0%</c:v>
                </c:pt>
                <c:pt idx="20">
                  <c:v>100.0%</c:v>
                </c:pt>
              </c:strCache>
            </c:strRef>
          </c:cat>
          <c:val>
            <c:numRef>
              <c:f>'Chart Data'!$B$2:$B$22</c:f>
              <c:numCache>
                <c:formatCode>0%</c:formatCode>
                <c:ptCount val="21"/>
                <c:pt idx="0">
                  <c:v>0</c:v>
                </c:pt>
                <c:pt idx="1">
                  <c:v>0.22681341</c:v>
                </c:pt>
                <c:pt idx="2">
                  <c:v>0.36231645</c:v>
                </c:pt>
                <c:pt idx="3">
                  <c:v>0.46642778</c:v>
                </c:pt>
                <c:pt idx="4">
                  <c:v>0.55263435</c:v>
                </c:pt>
                <c:pt idx="5">
                  <c:v>0.6251348</c:v>
                </c:pt>
                <c:pt idx="6">
                  <c:v>0.68737418</c:v>
                </c:pt>
                <c:pt idx="7">
                  <c:v>0.73994127</c:v>
                </c:pt>
                <c:pt idx="8">
                  <c:v>0.78585285</c:v>
                </c:pt>
                <c:pt idx="9">
                  <c:v>0.82534493</c:v>
                </c:pt>
                <c:pt idx="10">
                  <c:v>0.86004582</c:v>
                </c:pt>
                <c:pt idx="11">
                  <c:v>0.89030855</c:v>
                </c:pt>
                <c:pt idx="12">
                  <c:v>0.91577054</c:v>
                </c:pt>
                <c:pt idx="13">
                  <c:v>0.93723621</c:v>
                </c:pt>
                <c:pt idx="14">
                  <c:v>0.9551585</c:v>
                </c:pt>
                <c:pt idx="15">
                  <c:v>0.96959541</c:v>
                </c:pt>
                <c:pt idx="16">
                  <c:v>0.98078438</c:v>
                </c:pt>
                <c:pt idx="17">
                  <c:v>0.9891999</c:v>
                </c:pt>
                <c:pt idx="18">
                  <c:v>0.99502502</c:v>
                </c:pt>
                <c:pt idx="19">
                  <c:v>0.99865451</c:v>
                </c:pt>
                <c:pt idx="20">
                  <c:v>1</c:v>
                </c:pt>
              </c:numCache>
            </c:numRef>
          </c:val>
        </c:ser>
        <c:ser>
          <c:idx val="1"/>
          <c:order val="1"/>
          <c:tx>
            <c:v>Equal spending</c:v>
          </c:tx>
          <c:spPr>
            <a:ln xmlns:a="http://schemas.openxmlformats.org/drawingml/2006/main" w="14288">
              <a:solidFill>
                <a:srgbClr val="A6B5C0"/>
              </a:solidFill>
              <a:prstDash val="dash"/>
            </a:ln>
          </c:spPr>
          <c:marker>
            <c:symbol val="none"/>
          </c:marker>
          <c:cat>
            <c:strRef>
              <c:f>'Chart Data'!$C$2:$C$22</c:f>
              <c:strCache>
                <c:ptCount val="21"/>
                <c:pt idx="0">
                  <c:v>0.0%</c:v>
                </c:pt>
                <c:pt idx="1">
                  <c:v>5.0%</c:v>
                </c:pt>
                <c:pt idx="2">
                  <c:v>10.0%</c:v>
                </c:pt>
                <c:pt idx="3">
                  <c:v>15.0%</c:v>
                </c:pt>
                <c:pt idx="4">
                  <c:v>20.0%</c:v>
                </c:pt>
                <c:pt idx="5">
                  <c:v>25.0%</c:v>
                </c:pt>
                <c:pt idx="6">
                  <c:v>30.0%</c:v>
                </c:pt>
                <c:pt idx="7">
                  <c:v>35.0%</c:v>
                </c:pt>
                <c:pt idx="8">
                  <c:v>40.0%</c:v>
                </c:pt>
                <c:pt idx="9">
                  <c:v>45.0%</c:v>
                </c:pt>
                <c:pt idx="10">
                  <c:v>50.0%</c:v>
                </c:pt>
                <c:pt idx="11">
                  <c:v>55.0%</c:v>
                </c:pt>
                <c:pt idx="12">
                  <c:v>60.0%</c:v>
                </c:pt>
                <c:pt idx="13">
                  <c:v>65.0%</c:v>
                </c:pt>
                <c:pt idx="14">
                  <c:v>70.0%</c:v>
                </c:pt>
                <c:pt idx="15">
                  <c:v>75.0%</c:v>
                </c:pt>
                <c:pt idx="16">
                  <c:v>80.0%</c:v>
                </c:pt>
                <c:pt idx="17">
                  <c:v>85.0%</c:v>
                </c:pt>
                <c:pt idx="18">
                  <c:v>90.0%</c:v>
                </c:pt>
                <c:pt idx="19">
                  <c:v>95.0%</c:v>
                </c:pt>
                <c:pt idx="20">
                  <c:v>100.0%</c:v>
                </c:pt>
              </c:strCache>
            </c:strRef>
          </c:cat>
          <c:val>
            <c:numRef>
              <c:f>'Chart Data'!$D$2:$D$22</c:f>
              <c:numCache>
                <c:formatCode>0%</c:formatCode>
                <c:ptCount val="2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0.4</c:v>
                </c:pt>
                <c:pt idx="9">
                  <c:v>0.45</c:v>
                </c:pt>
                <c:pt idx="10">
                  <c:v>0.5</c:v>
                </c:pt>
                <c:pt idx="11">
                  <c:v>0.55</c:v>
                </c:pt>
                <c:pt idx="12">
                  <c:v>0.6</c:v>
                </c:pt>
                <c:pt idx="13">
                  <c:v>0.65</c:v>
                </c:pt>
                <c:pt idx="14">
                  <c:v>0.7</c:v>
                </c:pt>
                <c:pt idx="15">
                  <c:v>0.75</c:v>
                </c:pt>
                <c:pt idx="16">
                  <c:v>0.8</c:v>
                </c:pt>
                <c:pt idx="17">
                  <c:v>0.85</c:v>
                </c:pt>
                <c:pt idx="18">
                  <c:v>0.9</c:v>
                </c:pt>
                <c:pt idx="19">
                  <c:v>0.95</c:v>
                </c:pt>
                <c:pt idx="20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Accounts, highest spending first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FF2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142D42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>
                <a:latin typeface="Helvetica Neue"/>
                <a:ea typeface="Helvetica Neue"/>
                <a:cs typeface="Helvetica Neue"/>
              </a:rPr>
              <a:t>90-day validation RMSE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Mean validation RMSE</c:v>
          </c:tx>
          <c:spPr>
            <a:solidFill xmlns:a="http://schemas.openxmlformats.org/drawingml/2006/main">
              <a:srgbClr val="087E83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Trailing 90d</c:v>
                </c:pt>
                <c:pt idx="1">
                  <c:v>Trailing 365d</c:v>
                </c:pt>
                <c:pt idx="2">
                  <c:v>Best Ridge</c:v>
                </c:pt>
                <c:pt idx="3">
                  <c:v>Best boosting</c:v>
                </c:pt>
              </c:strCache>
            </c:strRef>
          </c:cat>
          <c:val>
            <c:numRef>
              <c:f>'Chart Data'!$B$2:$B$5</c:f>
              <c:numCache>
                <c:formatCode>$#,##0</c:formatCode>
                <c:ptCount val="4"/>
                <c:pt idx="0">
                  <c:v>644.89468745</c:v>
                </c:pt>
                <c:pt idx="1">
                  <c:v>531.39045019</c:v>
                </c:pt>
                <c:pt idx="2">
                  <c:v>532.21092372</c:v>
                </c:pt>
                <c:pt idx="3">
                  <c:v>522.19723193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FF2"/>
              </a:solidFill>
            </a:ln>
          </c:spPr>
        </c:majorGridlines>
        <c:numFmt formatCode="$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>
                <a:latin typeface="Helvetica Neue"/>
                <a:ea typeface="Helvetica Neue"/>
                <a:cs typeface="Helvetica Neue"/>
              </a:rPr>
              <a:t>180-day validation RMSE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Mean validation RMSE</c:v>
          </c:tx>
          <c:spPr>
            <a:solidFill xmlns:a="http://schemas.openxmlformats.org/drawingml/2006/main">
              <a:srgbClr val="E89B3C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Trailing 90d</c:v>
                </c:pt>
                <c:pt idx="1">
                  <c:v>Trailing 365d</c:v>
                </c:pt>
                <c:pt idx="2">
                  <c:v>Best Ridge</c:v>
                </c:pt>
                <c:pt idx="3">
                  <c:v>Best boosting</c:v>
                </c:pt>
              </c:strCache>
            </c:strRef>
          </c:cat>
          <c:val>
            <c:numRef>
              <c:f>'Chart Data'!$B$2:$B$5</c:f>
              <c:numCache>
                <c:formatCode>$#,##0</c:formatCode>
                <c:ptCount val="4"/>
                <c:pt idx="0">
                  <c:v>1162.43888098</c:v>
                </c:pt>
                <c:pt idx="1">
                  <c:v>949.27885205</c:v>
                </c:pt>
                <c:pt idx="2">
                  <c:v>940.82307671</c:v>
                </c:pt>
                <c:pt idx="3">
                  <c:v>952.02931816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FF2"/>
              </a:solidFill>
            </a:ln>
          </c:spPr>
        </c:majorGridlines>
        <c:numFmt formatCode="$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latin typeface="Helvetica Neue"/>
                <a:ea typeface="Helvetica Neue"/>
                <a:cs typeface="Helvetica Neue"/>
              </a:rPr>
              <a:t>90-day mean spending by decile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latin typeface="Helvetica Neue"/>
              <a:ea typeface="Helvetica Neue"/>
              <a:cs typeface="Helvetica Neue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Predicted</c:v>
          </c:tx>
          <c:spPr>
            <a:ln xmlns:a="http://schemas.openxmlformats.org/drawingml/2006/main" w="28575">
              <a:solidFill>
                <a:srgbClr val="087E83"/>
              </a:solidFill>
            </a:ln>
          </c:spPr>
          <c:marker>
            <c:symbol val="circle"/>
            <c:size val="5"/>
          </c:marker>
          <c:cat>
            <c:numRef>
              <c:f>'Chart Data'!$A$2:$A$11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'Chart Data'!$B$2:$B$11</c:f>
              <c:numCache>
                <c:formatCode>$#,##0</c:formatCode>
                <c:ptCount val="10"/>
                <c:pt idx="0">
                  <c:v>52.94976502</c:v>
                </c:pt>
                <c:pt idx="1">
                  <c:v>107.99108659</c:v>
                </c:pt>
                <c:pt idx="2">
                  <c:v>176.7427651</c:v>
                </c:pt>
                <c:pt idx="3">
                  <c:v>256.58822422</c:v>
                </c:pt>
                <c:pt idx="4">
                  <c:v>344.27120411</c:v>
                </c:pt>
                <c:pt idx="5">
                  <c:v>452.33888748</c:v>
                </c:pt>
                <c:pt idx="6">
                  <c:v>581.9505948</c:v>
                </c:pt>
                <c:pt idx="7">
                  <c:v>761.92540727</c:v>
                </c:pt>
                <c:pt idx="8">
                  <c:v>1039.13605121</c:v>
                </c:pt>
                <c:pt idx="9">
                  <c:v>1974.0811781</c:v>
                </c:pt>
              </c:numCache>
            </c:numRef>
          </c:val>
        </c:ser>
        <c:ser>
          <c:idx val="1"/>
          <c:order val="1"/>
          <c:tx>
            <c:v>Actual</c:v>
          </c:tx>
          <c:spPr>
            <a:ln xmlns:a="http://schemas.openxmlformats.org/drawingml/2006/main" w="28575">
              <a:solidFill>
                <a:srgbClr val="E89B3C"/>
              </a:solidFill>
            </a:ln>
          </c:spPr>
          <c:marker>
            <c:symbol val="circle"/>
            <c:size val="5"/>
          </c:marker>
          <c:cat>
            <c:numRef>
              <c:f>'Chart Data'!$C$2:$C$11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'Chart Data'!$D$2:$D$11</c:f>
              <c:numCache>
                <c:formatCode>$#,##0</c:formatCode>
                <c:ptCount val="10"/>
                <c:pt idx="0">
                  <c:v>54.40936</c:v>
                </c:pt>
                <c:pt idx="1">
                  <c:v>90.53428858</c:v>
                </c:pt>
                <c:pt idx="2">
                  <c:v>126.27895792</c:v>
                </c:pt>
                <c:pt idx="3">
                  <c:v>213.50717435</c:v>
                </c:pt>
                <c:pt idx="4">
                  <c:v>285.63995992</c:v>
                </c:pt>
                <c:pt idx="5">
                  <c:v>386.11132265</c:v>
                </c:pt>
                <c:pt idx="6">
                  <c:v>496.30631263</c:v>
                </c:pt>
                <c:pt idx="7">
                  <c:v>648.38675351</c:v>
                </c:pt>
                <c:pt idx="8">
                  <c:v>896.25106212</c:v>
                </c:pt>
                <c:pt idx="9">
                  <c:v>1734.23653307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Predicted-value decile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FF2"/>
              </a:solidFill>
            </a:ln>
          </c:spPr>
        </c:majorGridlines>
        <c:numFmt formatCode="$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142D42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latin typeface="Helvetica Neue"/>
                <a:ea typeface="Helvetica Neue"/>
                <a:cs typeface="Helvetica Neue"/>
              </a:rPr>
              <a:t>180-day mean spending by decile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latin typeface="Helvetica Neue"/>
              <a:ea typeface="Helvetica Neue"/>
              <a:cs typeface="Helvetica Neue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Predicted</c:v>
          </c:tx>
          <c:spPr>
            <a:ln xmlns:a="http://schemas.openxmlformats.org/drawingml/2006/main" w="28575">
              <a:solidFill>
                <a:srgbClr val="087E83"/>
              </a:solidFill>
            </a:ln>
          </c:spPr>
          <c:marker>
            <c:symbol val="circle"/>
            <c:size val="5"/>
          </c:marker>
          <c:cat>
            <c:numRef>
              <c:f>'Chart Data'!$A$2:$A$11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'Chart Data'!$B$2:$B$11</c:f>
              <c:numCache>
                <c:formatCode>$#,##0</c:formatCode>
                <c:ptCount val="10"/>
                <c:pt idx="0">
                  <c:v>108.98048172</c:v>
                </c:pt>
                <c:pt idx="1">
                  <c:v>241.06491963</c:v>
                </c:pt>
                <c:pt idx="2">
                  <c:v>369.42227795</c:v>
                </c:pt>
                <c:pt idx="3">
                  <c:v>535.81383484</c:v>
                </c:pt>
                <c:pt idx="4">
                  <c:v>758.6711272</c:v>
                </c:pt>
                <c:pt idx="5">
                  <c:v>1004.7992097</c:v>
                </c:pt>
                <c:pt idx="6">
                  <c:v>1300.20388344</c:v>
                </c:pt>
                <c:pt idx="7">
                  <c:v>1723.2388154</c:v>
                </c:pt>
                <c:pt idx="8">
                  <c:v>2357.34754014</c:v>
                </c:pt>
                <c:pt idx="9">
                  <c:v>4299.09210774</c:v>
                </c:pt>
              </c:numCache>
            </c:numRef>
          </c:val>
        </c:ser>
        <c:ser>
          <c:idx val="1"/>
          <c:order val="1"/>
          <c:tx>
            <c:v>Actual</c:v>
          </c:tx>
          <c:spPr>
            <a:ln xmlns:a="http://schemas.openxmlformats.org/drawingml/2006/main" w="28575">
              <a:solidFill>
                <a:srgbClr val="E89B3C"/>
              </a:solidFill>
            </a:ln>
          </c:spPr>
          <c:marker>
            <c:symbol val="circle"/>
            <c:size val="5"/>
          </c:marker>
          <c:cat>
            <c:numRef>
              <c:f>'Chart Data'!$C$2:$C$11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cat>
          <c:val>
            <c:numRef>
              <c:f>'Chart Data'!$D$2:$D$11</c:f>
              <c:numCache>
                <c:formatCode>$#,##0</c:formatCode>
                <c:ptCount val="10"/>
                <c:pt idx="0">
                  <c:v>113.4828</c:v>
                </c:pt>
                <c:pt idx="1">
                  <c:v>179.05541082</c:v>
                </c:pt>
                <c:pt idx="2">
                  <c:v>316.17965932</c:v>
                </c:pt>
                <c:pt idx="3">
                  <c:v>435.15963928</c:v>
                </c:pt>
                <c:pt idx="4">
                  <c:v>580.67064128</c:v>
                </c:pt>
                <c:pt idx="5">
                  <c:v>783.08847695</c:v>
                </c:pt>
                <c:pt idx="6">
                  <c:v>1018.82823647</c:v>
                </c:pt>
                <c:pt idx="7">
                  <c:v>1317.80597194</c:v>
                </c:pt>
                <c:pt idx="8">
                  <c:v>1875.19342685</c:v>
                </c:pt>
                <c:pt idx="9">
                  <c:v>3512.09673347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Predicted-value decile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FF2"/>
              </a:solidFill>
            </a:ln>
          </c:spPr>
        </c:majorGridlines>
        <c:numFmt formatCode="$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142D42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latin typeface="Helvetica Neue"/>
                <a:ea typeface="Helvetica Neue"/>
                <a:cs typeface="Helvetica Neue"/>
              </a:rPr>
              <a:t>WAPE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90 days</c:v>
          </c:tx>
          <c:spPr>
            <a:solidFill xmlns:a="http://schemas.openxmlformats.org/drawingml/2006/main">
              <a:srgbClr val="087E83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2022-01-01</c:v>
                </c:pt>
                <c:pt idx="1">
                  <c:v>2022-05-01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0.5887025</c:v>
                </c:pt>
                <c:pt idx="1">
                  <c:v>0.51356433</c:v>
                </c:pt>
              </c:numCache>
            </c:numRef>
          </c:val>
        </c:ser>
        <c:ser>
          <c:idx val="1"/>
          <c:order val="1"/>
          <c:tx>
            <c:v>180 days</c:v>
          </c:tx>
          <c:spPr>
            <a:solidFill xmlns:a="http://schemas.openxmlformats.org/drawingml/2006/main">
              <a:srgbClr val="E89B3C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2022-01-01</c:v>
                </c:pt>
                <c:pt idx="1">
                  <c:v>2022-05-01</c:v>
                </c:pt>
              </c:strCache>
            </c:strRef>
          </c:cat>
          <c:val>
            <c:numRef>
              <c:f>'Chart Data'!$D$2:$D$3</c:f>
              <c:numCache>
                <c:formatCode>0.00</c:formatCode>
                <c:ptCount val="2"/>
                <c:pt idx="0">
                  <c:v>0.55014731</c:v>
                </c:pt>
                <c:pt idx="1">
                  <c:v>0.4631371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FF2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142D42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latin typeface="Helvetica Neue"/>
                <a:ea typeface="Helvetica Neue"/>
                <a:cs typeface="Helvetica Neue"/>
              </a:rPr>
              <a:t>RMSE / mean actual spending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90 days</c:v>
          </c:tx>
          <c:spPr>
            <a:solidFill xmlns:a="http://schemas.openxmlformats.org/drawingml/2006/main">
              <a:srgbClr val="087E83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2022-01-01</c:v>
                </c:pt>
                <c:pt idx="1">
                  <c:v>2022-05-01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1.07167658</c:v>
                </c:pt>
                <c:pt idx="1">
                  <c:v>0.97503083</c:v>
                </c:pt>
              </c:numCache>
            </c:numRef>
          </c:val>
        </c:ser>
        <c:ser>
          <c:idx val="1"/>
          <c:order val="1"/>
          <c:tx>
            <c:v>180 days</c:v>
          </c:tx>
          <c:spPr>
            <a:solidFill xmlns:a="http://schemas.openxmlformats.org/drawingml/2006/main">
              <a:srgbClr val="E89B3C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2022-01-01</c:v>
                </c:pt>
                <c:pt idx="1">
                  <c:v>2022-05-01</c:v>
                </c:pt>
              </c:strCache>
            </c:strRef>
          </c:cat>
          <c:val>
            <c:numRef>
              <c:f>'Chart Data'!$D$2:$D$3</c:f>
              <c:numCache>
                <c:formatCode>0.00</c:formatCode>
                <c:ptCount val="2"/>
                <c:pt idx="0">
                  <c:v>0.87560819</c:v>
                </c:pt>
                <c:pt idx="1">
                  <c:v>0.80015761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FF2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142D42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950">
                <a:latin typeface="Helvetica Neue"/>
                <a:ea typeface="Helvetica Neue"/>
                <a:cs typeface="Helvetica Neue"/>
              </a:rPr>
              <a:t>90-day coverage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950"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Actual spending covered</c:v>
          </c:tx>
          <c:spPr>
            <a:solidFill xmlns:a="http://schemas.openxmlformats.org/drawingml/2006/main">
              <a:srgbClr val="087E83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Predicted</c:v>
                </c:pt>
                <c:pt idx="1">
                  <c:v>Historical</c:v>
                </c:pt>
                <c:pt idx="2">
                  <c:v>Recency</c:v>
                </c:pt>
                <c:pt idx="3">
                  <c:v>Random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0.53378557</c:v>
                </c:pt>
                <c:pt idx="1">
                  <c:v>0.53224127</c:v>
                </c:pt>
                <c:pt idx="2">
                  <c:v>0.38241788</c:v>
                </c:pt>
                <c:pt idx="3">
                  <c:v>0.20336707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0.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FF2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950">
                <a:latin typeface="Helvetica Neue"/>
                <a:ea typeface="Helvetica Neue"/>
                <a:cs typeface="Helvetica Neue"/>
              </a:rPr>
              <a:t>180-day coverage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950"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Actual spending covered</c:v>
          </c:tx>
          <c:spPr>
            <a:solidFill xmlns:a="http://schemas.openxmlformats.org/drawingml/2006/main">
              <a:srgbClr val="E89B3C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Predicted</c:v>
                </c:pt>
                <c:pt idx="1">
                  <c:v>Historical</c:v>
                </c:pt>
                <c:pt idx="2">
                  <c:v>Recency</c:v>
                </c:pt>
                <c:pt idx="3">
                  <c:v>Random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0.53208975</c:v>
                </c:pt>
                <c:pt idx="1">
                  <c:v>0.52308687</c:v>
                </c:pt>
                <c:pt idx="2">
                  <c:v>0.38039296</c:v>
                </c:pt>
                <c:pt idx="3">
                  <c:v>0.20535291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0.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FF2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637207-CC9C-47E2-B4CA-60D6846E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AMAZON CUSTOMER VALUE  /  HISTORICAL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D1454-6547-408D-B1FB-BC433E86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rPr>
              <a:t>Amazon customer value forecasts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642EF9-68C0-4E3C-90B6-235A69DC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rPr>
              <a:t>Recorded purchase value · 2018 through October 2022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2B1157-C89D-4184-B3AF-4FC461E4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rPr>
              <a:t>01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8CD0F-241E-414A-A31A-DB34FE17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90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90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90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90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90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90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90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90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90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90-day and 180-day spending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411565-F9B7-4D90-808C-5F682683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550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550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550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550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550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550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550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550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550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rPr>
              <a:t>Marketing prioritization within an illustrative contact budget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68CE0B-E2FA-4EC1-A1FE-9F073785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0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0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0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0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0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0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0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0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0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rPr>
              <a:t>A reproducible local analysis of real, consented purchase histories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40D5E1-992B-47E2-89E5-A0BE139F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rPr>
              <a:t>October 2026</a:t>
            </a:r>
          </a:p>
        </p:txBody>
      </p:sp>
    </p:spTree>
    <p:extLst>
      <p:ext uri="{BB962C8B-B14F-4D97-AF65-F5344CB8AC3E}">
        <p14:creationId xmlns:p14="http://schemas.microsoft.com/office/powerpoint/2010/main" val="4572937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1998C5-7AC5-44FD-8F31-50020FA9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AMAZON CUSTOMER VALUE  /  HISTORICAL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302F6B-30A5-4C90-AB6B-5A047CAF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rPr>
              <a:t>Dataset and observation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B38D70-CB8A-4E7B-B69B-15B12E65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rPr>
              <a:t>Verified original bytes, with an explicit common observation window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B56491-A906-4E21-9B83-FEC36124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rPr>
              <a:t>Recorded purchase value · 2018 through October 2022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284F3-12C1-4017-A242-263EB751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rPr>
              <a:t>02 / 12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054172-EB90-442B-B2AA-85B10E854616}"/>
              </a:ext>
            </a:extLst>
          </p:cNvPr>
          <p:cNvGraphicFramePr/>
          <p:nvPr/>
        </p:nvGraphicFramePr>
        <p:xfrm>
          <a:off xmlns:a="http://schemas.openxmlformats.org/drawingml/2006/main" x="609600" y="238125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7162800"/>
              </a:tblGrid>
              <a:tr h="5238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E7EFF2"/>
                      </a:solidFill>
                      <a:prstDash val="solid"/>
                    </a:lnL>
                    <a:lnR w="6668">
                      <a:solidFill>
                        <a:srgbClr val="E7EFF2"/>
                      </a:solidFill>
                      <a:prstDash val="solid"/>
                    </a:lnR>
                    <a:lnT w="6668">
                      <a:solidFill>
                        <a:srgbClr val="E7EFF2"/>
                      </a:solidFill>
                      <a:prstDash val="solid"/>
                    </a:lnT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E7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Retained analysis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T w="6668">
                      <a:solidFill>
                        <a:srgbClr val="E7EFF2"/>
                      </a:solidFill>
                      <a:prstDash val="solid"/>
                    </a:lnT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E7EFF2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Accounts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E7EFF2"/>
                      </a:solidFill>
                      <a:prstDash val="solid"/>
                    </a:lnL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5,015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Purchased-item rows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E7EFF2"/>
                      </a:solidFill>
                      <a:prstDash val="solid"/>
                    </a:lnL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1,737,058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Recorded purchase value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E7EFF2"/>
                      </a:solidFill>
                      <a:prstDash val="solid"/>
                    </a:lnL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$41,258,954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Observation window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E7EFF2"/>
                      </a:solidFill>
                      <a:prstDash val="solid"/>
                    </a:lnL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January 2018 through October 2022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Later-dated rows excluded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E7EFF2"/>
                      </a:solidFill>
                      <a:prstDash val="solid"/>
                    </a:lnL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113,659, including one 2024 record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6CCFD9-D0EF-47D2-B088-8885DB95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rPr>
              <a:t>Harvard Dataverse v1.0, CC0 1.0. MD5 matches the original. Identical rows remain because order IDs are unavailable.</a:t>
            </a:r>
          </a:p>
        </p:txBody>
      </p:sp>
    </p:spTree>
    <p:extLst>
      <p:ext uri="{BB962C8B-B14F-4D97-AF65-F5344CB8AC3E}">
        <p14:creationId xmlns:p14="http://schemas.microsoft.com/office/powerpoint/2010/main" val="5602089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2F3D32-41B0-4C49-9BF8-F2264C86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AMAZON CUSTOMER VALUE  /  HISTORICAL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4D7893-C79B-4A22-BFEB-7E6EA3C1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rPr>
              <a:t>Purchase-value concentration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F465D-0A1A-4665-AF66-F7A3F4E5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rPr>
              <a:t>A minority of accounts explains much of the recorded spending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640102-BE6C-4939-91EB-619004BE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rPr>
              <a:t>Recorded purchase value · 2018 through October 2022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51B595-6AD9-4886-9080-E1DE8118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rPr>
              <a:t>03 / 12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E2406F7A-9F31-415D-8303-EF3542759B31}"/>
              </a:ext>
            </a:extLst>
          </p:cNvPr>
          <p:cNvGraphicFramePr/>
          <p:nvPr/>
        </p:nvGraphicFramePr>
        <p:xfrm>
          <a:off xmlns:a="http://schemas.openxmlformats.org/drawingml/2006/main" x="762000" y="2333625"/>
          <a:ext xmlns:a="http://schemas.openxmlformats.org/drawingml/2006/main" cx="105727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6f00b7841f442c2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7AE3BB-1EEF-424B-82F9-16BA81FB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rPr>
              <a:t>Descriptive concentration uses the full retained window. It does not measure the additional value of a prediction model.</a:t>
            </a:r>
          </a:p>
        </p:txBody>
      </p:sp>
    </p:spTree>
    <p:extLst>
      <p:ext uri="{BB962C8B-B14F-4D97-AF65-F5344CB8AC3E}">
        <p14:creationId xmlns:p14="http://schemas.microsoft.com/office/powerpoint/2010/main" val="17619222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CBDC36-8B29-4E5B-BE34-52FA6A82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AMAZON CUSTOMER VALUE  /  HISTORICAL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CFA83C-B2F8-4B22-A7D9-7A039C21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rPr>
              <a:t>Snapshot features and future spending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6B779-8A40-428E-B4BE-43DB7E70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rPr>
              <a:t>One account at one historical scoring date is one modeling observation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DE6864-7F5E-4D04-BEEB-4A383C09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rPr>
              <a:t>Recorded purchase value · 2018 through October 2022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E8E373-DA0F-47EF-AD5A-4B92F2AC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rPr>
              <a:t>04 / 12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713ED-77D6-4433-9B38-B56E9A799123}"/>
              </a:ext>
            </a:extLst>
          </p:cNvPr>
          <p:cNvGraphicFramePr/>
          <p:nvPr/>
        </p:nvGraphicFramePr>
        <p:xfrm>
          <a:off xmlns:a="http://schemas.openxmlformats.org/drawingml/2006/main" x="609600" y="2381250"/>
          <a:ext xmlns:a="http://schemas.openxmlformats.org/drawingml/2006/main" cx="1097280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4476750"/>
                <a:gridCol w="4162425"/>
              </a:tblGrid>
              <a:tr h="50006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Component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E7EFF2"/>
                      </a:solidFill>
                      <a:prstDash val="solid"/>
                    </a:lnL>
                    <a:lnR w="6668">
                      <a:solidFill>
                        <a:srgbClr val="E7EFF2"/>
                      </a:solidFill>
                      <a:prstDash val="solid"/>
                    </a:lnR>
                    <a:lnT w="6668">
                      <a:solidFill>
                        <a:srgbClr val="E7EFF2"/>
                      </a:solidFill>
                      <a:prstDash val="solid"/>
                    </a:lnT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E7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Date rule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T w="6668">
                      <a:solidFill>
                        <a:srgbClr val="E7EFF2"/>
                      </a:solidFill>
                      <a:prstDash val="solid"/>
                    </a:lnT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E7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Meaning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T w="6668">
                      <a:solidFill>
                        <a:srgbClr val="E7EFF2"/>
                      </a:solidFill>
                      <a:prstDash val="solid"/>
                    </a:lnT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E7EFF2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Features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E7EFF2"/>
                      </a:solidFill>
                      <a:prstDash val="solid"/>
                    </a:lnL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Purchase date &lt; scoring date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Only earlier information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90-day target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E7EFF2"/>
                      </a:solidFill>
                      <a:prstDash val="solid"/>
                    </a:lnL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[scoring date, scoring date + 90 days)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Recorded future value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180-day target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E7EFF2"/>
                      </a:solidFill>
                      <a:prstDash val="solid"/>
                    </a:lnL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[scoring date, scoring date + 180 days)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Contains the 90-day window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future purchase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E7EFF2"/>
                      </a:solidFill>
                      <a:prstDash val="solid"/>
                    </a:lnL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Complete window observed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Zero target remains present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Incomplete window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E7EFF2"/>
                      </a:solidFill>
                      <a:prstDash val="solid"/>
                    </a:lnL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End exceeds October 2022 coverage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Unavailable target, never zero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F6C185-B978-4CEA-8FC0-B4A9635B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rPr>
              <a:t>Features: recency, observed history, purchase days, spending windows, diversity, category shares, trends, and seasonality.</a:t>
            </a:r>
          </a:p>
        </p:txBody>
      </p:sp>
    </p:spTree>
    <p:extLst>
      <p:ext uri="{BB962C8B-B14F-4D97-AF65-F5344CB8AC3E}">
        <p14:creationId xmlns:p14="http://schemas.microsoft.com/office/powerpoint/2010/main" val="10541176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843FCA-0805-4C04-A043-B4273769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AMAZON CUSTOMER VALUE  /  HISTORICAL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DD51B2-0029-40EA-8D7C-D18615A0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rPr>
              <a:t>Label-aware chronological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21C590-5EFA-422B-8316-F097B7DF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rPr>
              <a:t>Training examples must finish their entire target window before the cutoff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DBB642-C685-4A0A-9579-3460C19D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rPr>
              <a:t>Recorded purchase value · 2018 through October 2022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1E55B0-93AB-48CC-8409-987A05B4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rPr>
              <a:t>05 / 12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31A395-6D33-4C32-8987-97B98BFFFBD6}"/>
              </a:ext>
            </a:extLst>
          </p:cNvPr>
          <p:cNvGraphicFramePr/>
          <p:nvPr/>
        </p:nvGraphicFramePr>
        <p:xfrm>
          <a:off xmlns:a="http://schemas.openxmlformats.org/drawingml/2006/main" x="609600" y="2381250"/>
          <a:ext xmlns:a="http://schemas.openxmlformats.org/drawingml/2006/main" cx="1097280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2000250"/>
                <a:gridCol w="3200400"/>
                <a:gridCol w="3200400"/>
              </a:tblGrid>
              <a:tr h="50006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Stage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E7EFF2"/>
                      </a:solidFill>
                      <a:prstDash val="solid"/>
                    </a:lnL>
                    <a:lnR w="6668">
                      <a:solidFill>
                        <a:srgbClr val="E7EFF2"/>
                      </a:solidFill>
                      <a:prstDash val="solid"/>
                    </a:lnR>
                    <a:lnT w="6668">
                      <a:solidFill>
                        <a:srgbClr val="E7EFF2"/>
                      </a:solidFill>
                      <a:prstDash val="solid"/>
                    </a:lnT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E7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Cutoff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T w="6668">
                      <a:solidFill>
                        <a:srgbClr val="E7EFF2"/>
                      </a:solidFill>
                      <a:prstDash val="solid"/>
                    </a:lnT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E7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90-day latest label end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T w="6668">
                      <a:solidFill>
                        <a:srgbClr val="E7EFF2"/>
                      </a:solidFill>
                      <a:prstDash val="solid"/>
                    </a:lnT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E7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180-day latest label end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T w="6668">
                      <a:solidFill>
                        <a:srgbClr val="E7EFF2"/>
                      </a:solidFill>
                      <a:prstDash val="solid"/>
                    </a:lnT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E7EFF2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Validation fold 1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E7EFF2"/>
                      </a:solidFill>
                      <a:prstDash val="solid"/>
                    </a:lnL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2021-01-01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2020-12-30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2020-12-28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Validation fold 2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E7EFF2"/>
                      </a:solidFill>
                      <a:prstDash val="solid"/>
                    </a:lnL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2021-07-01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2021-03-01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2021-05-30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Final fitting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E7EFF2"/>
                      </a:solidFill>
                      <a:prstDash val="solid"/>
                    </a:lnL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2022-01-01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2021-12-30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2021-12-28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Final test 1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E7EFF2"/>
                      </a:solidFill>
                      <a:prstDash val="solid"/>
                    </a:lnL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2022-01-01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Frozen bundle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Frozen bundle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Final test 2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E7EFF2"/>
                      </a:solidFill>
                      <a:prstDash val="solid"/>
                    </a:lnL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2022-05-01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Same frozen bundle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Same frozen bundle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98DC5F-01E0-4478-9F3C-3893878D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rPr>
              <a:t>Development scoring dates are in 2019–2020. Final refitting may use mature 2021 labels after choices freeze.</a:t>
            </a:r>
          </a:p>
        </p:txBody>
      </p:sp>
    </p:spTree>
    <p:extLst>
      <p:ext uri="{BB962C8B-B14F-4D97-AF65-F5344CB8AC3E}">
        <p14:creationId xmlns:p14="http://schemas.microsoft.com/office/powerpoint/2010/main" val="15373258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384F65-5D48-4192-A8AA-FAD094CD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AMAZON CUSTOMER VALUE  /  HISTORICAL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4AD99A-5D46-44D2-8297-1DF1DF51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rPr>
              <a:t>Validation selected different models by horizon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E8D918-520D-4A27-B855-760DD91B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rPr>
              <a:t>90 days: histogram boosting. 180 days: Ridge with alpha 100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7228D6-467C-4893-ADC1-4E3520DB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rPr>
              <a:t>Recorded purchase value · 2018 through October 2022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726172-43D1-4786-BB9D-4C51DDE9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rPr>
              <a:t>06 / 12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109F3F49-8E7F-4702-80BD-26ED64CBCAE1}"/>
              </a:ext>
            </a:extLst>
          </p:cNvPr>
          <p:cNvGraphicFramePr/>
          <p:nvPr/>
        </p:nvGraphicFramePr>
        <p:xfrm>
          <a:off xmlns:a="http://schemas.openxmlformats.org/drawingml/2006/main" x="609600" y="2343150"/>
          <a:ext xmlns:a="http://schemas.openxmlformats.org/drawingml/2006/main" cx="528637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d307c15c4634aba"/>
          </a:graphicData>
        </a:graphic>
      </p:graphicFrame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E96DF0A1-8F6E-4369-BE0A-B66E9DB2F642}"/>
              </a:ext>
            </a:extLst>
          </p:cNvPr>
          <p:cNvGraphicFramePr/>
          <p:nvPr/>
        </p:nvGraphicFramePr>
        <p:xfrm>
          <a:off xmlns:a="http://schemas.openxmlformats.org/drawingml/2006/main" x="6181725" y="2343150"/>
          <a:ext xmlns:a="http://schemas.openxmlformats.org/drawingml/2006/main" cx="528637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7eb33bb5462460f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73D8DE-1B33-45EA-82AD-3A58DE87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rPr>
              <a:t>Bounded search and a predeclared 1% RMSE tie rule. The 180-day comparisons include max(raw180, selected90).</a:t>
            </a:r>
          </a:p>
        </p:txBody>
      </p:sp>
    </p:spTree>
    <p:extLst>
      <p:ext uri="{BB962C8B-B14F-4D97-AF65-F5344CB8AC3E}">
        <p14:creationId xmlns:p14="http://schemas.microsoft.com/office/powerpoint/2010/main" val="6346543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156021-EAE9-4493-BB78-63DC9E5E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AMAZON CUSTOMER VALUE  /  HISTORICAL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6FC400-CFD2-4898-A6C5-66F5615C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rPr>
              <a:t>Untouched 2022 test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F939A7-13C7-4B0C-B5C7-E3F920F4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rPr>
              <a:t>The same final models score both dates without refitting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37E553-535D-443E-8606-EBD13455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rPr>
              <a:t>Recorded purchase value · 2018 through October 2022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CA95C2-C142-4746-881B-838038C6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rPr>
              <a:t>07 / 12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F63F37-BB23-4AD0-B154-B84C2CEC326E}"/>
              </a:ext>
            </a:extLst>
          </p:cNvPr>
          <p:cNvGraphicFramePr/>
          <p:nvPr/>
        </p:nvGraphicFramePr>
        <p:xfrm>
          <a:off xmlns:a="http://schemas.openxmlformats.org/drawingml/2006/main" x="609600" y="2428875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762000"/>
                <a:gridCol w="1381125"/>
                <a:gridCol w="1381125"/>
                <a:gridCol w="1381125"/>
                <a:gridCol w="1809750"/>
                <a:gridCol w="2495550"/>
              </a:tblGrid>
              <a:tr h="571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Scoring date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E7EFF2"/>
                      </a:solidFill>
                      <a:prstDash val="solid"/>
                    </a:lnL>
                    <a:lnR w="6668">
                      <a:solidFill>
                        <a:srgbClr val="E7EFF2"/>
                      </a:solidFill>
                      <a:prstDash val="solid"/>
                    </a:lnR>
                    <a:lnT w="6668">
                      <a:solidFill>
                        <a:srgbClr val="E7EFF2"/>
                      </a:solidFill>
                      <a:prstDash val="solid"/>
                    </a:lnT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E7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Days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T w="6668">
                      <a:solidFill>
                        <a:srgbClr val="E7EFF2"/>
                      </a:solidFill>
                      <a:prstDash val="solid"/>
                    </a:lnT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E7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T w="6668">
                      <a:solidFill>
                        <a:srgbClr val="E7EFF2"/>
                      </a:solidFill>
                      <a:prstDash val="solid"/>
                    </a:lnT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E7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RMSE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T w="6668">
                      <a:solidFill>
                        <a:srgbClr val="E7EFF2"/>
                      </a:solidFill>
                      <a:prstDash val="solid"/>
                    </a:lnT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E7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WAPE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T w="6668">
                      <a:solidFill>
                        <a:srgbClr val="E7EFF2"/>
                      </a:solidFill>
                      <a:prstDash val="solid"/>
                    </a:lnT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E7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Top 20% capture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T w="6668">
                      <a:solidFill>
                        <a:srgbClr val="E7EFF2"/>
                      </a:solidFill>
                      <a:prstDash val="solid"/>
                    </a:lnT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E7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Gain vs history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T w="6668">
                      <a:solidFill>
                        <a:srgbClr val="E7EFF2"/>
                      </a:solidFill>
                      <a:prstDash val="solid"/>
                    </a:lnT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E7EF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2022-01-01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E7EFF2"/>
                      </a:solidFill>
                      <a:prstDash val="solid"/>
                    </a:lnL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$290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$528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58.9%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53.4%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0.28 pp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2022-05-01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E7EFF2"/>
                      </a:solidFill>
                      <a:prstDash val="solid"/>
                    </a:lnL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$291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$553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51.4%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53.6%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0.99 pp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2022-01-01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E7EFF2"/>
                      </a:solidFill>
                      <a:prstDash val="solid"/>
                    </a:lnL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$557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$887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55.0%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53.2%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0.99 pp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2022-05-01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E7EFF2"/>
                      </a:solidFill>
                      <a:prstDash val="solid"/>
                    </a:lnL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$504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$870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46.3%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52.9%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0.59 pp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C1009D-40F7-4D99-A4EF-C68FC754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rPr>
              <a:t>Ranking gains over trailing-year spending are modest: 0.28–0.99 percentage points. Lower RMSE does not imply large marketing gains.</a:t>
            </a:r>
          </a:p>
        </p:txBody>
      </p:sp>
    </p:spTree>
    <p:extLst>
      <p:ext uri="{BB962C8B-B14F-4D97-AF65-F5344CB8AC3E}">
        <p14:creationId xmlns:p14="http://schemas.microsoft.com/office/powerpoint/2010/main" val="9248590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A785C6-E971-487C-A0DB-B83F8D67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AMAZON CUSTOMER VALUE  /  HISTORICAL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6508DE-6AAD-4E7E-99DE-BB4695EB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rPr>
              <a:t>Calibration exposes amount-forecast limitations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02DB5-59F9-4E18-BE9C-D4A48CB8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rPr>
              <a:t>January 2022 deciles, ranked by predicted spending from lowest to highest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357D4D-20FA-4834-9791-DCA429C6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rPr>
              <a:t>Recorded purchase value · 2018 through October 2022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AAB2A0-2E49-455E-890E-4B4B5413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rPr>
              <a:t>08 / 12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0031DDD8-1EC4-4C43-9D37-F35CAA896170}"/>
              </a:ext>
            </a:extLst>
          </p:cNvPr>
          <p:cNvGraphicFramePr/>
          <p:nvPr/>
        </p:nvGraphicFramePr>
        <p:xfrm>
          <a:off xmlns:a="http://schemas.openxmlformats.org/drawingml/2006/main" x="609600" y="2333625"/>
          <a:ext xmlns:a="http://schemas.openxmlformats.org/drawingml/2006/main" cx="528637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2e111446047494a"/>
          </a:graphicData>
        </a:graphic>
      </p:graphicFrame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07105C74-6A03-42AC-9BFB-700EE9D9534D}"/>
              </a:ext>
            </a:extLst>
          </p:cNvPr>
          <p:cNvGraphicFramePr/>
          <p:nvPr/>
        </p:nvGraphicFramePr>
        <p:xfrm>
          <a:off xmlns:a="http://schemas.openxmlformats.org/drawingml/2006/main" x="6181725" y="2333625"/>
          <a:ext xmlns:a="http://schemas.openxmlformats.org/drawingml/2006/main" cx="528637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01aaa22f91946f8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6701B6-8617-47CA-B6DA-D1EDD8AB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rPr>
              <a:t>January total forecasts overstate actual spending by 16.6% at 90 days and 25.3% at 180 days. Good rankings can coexist with poor calibration.</a:t>
            </a:r>
          </a:p>
        </p:txBody>
      </p:sp>
    </p:spTree>
    <p:extLst>
      <p:ext uri="{BB962C8B-B14F-4D97-AF65-F5344CB8AC3E}">
        <p14:creationId xmlns:p14="http://schemas.microsoft.com/office/powerpoint/2010/main" val="21173767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110E3E-F615-44E1-BD87-A8702DA9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AMAZON CUSTOMER VALUE  /  HISTORICAL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D05675-8B83-406C-A9FB-EA58C59B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rPr>
              <a:t>Horizon comparison and uncertainty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E957C8-E686-4A2A-B42E-67C3BF16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rPr>
              <a:t>Normalized errors favor 180 days, while 90 days has better aggregate calibration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87E8A6-4042-4F00-8BFD-4AB34C30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rPr>
              <a:t>Recorded purchase value · 2018 through October 2022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4E339D-DCEF-4A37-90D2-38FB37C2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rPr>
              <a:t>09 / 12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93AED340-28CD-4629-984E-ABFB13229570}"/>
              </a:ext>
            </a:extLst>
          </p:cNvPr>
          <p:cNvGraphicFramePr/>
          <p:nvPr/>
        </p:nvGraphicFramePr>
        <p:xfrm>
          <a:off xmlns:a="http://schemas.openxmlformats.org/drawingml/2006/main" x="609600" y="2333625"/>
          <a:ext xmlns:a="http://schemas.openxmlformats.org/drawingml/2006/main" cx="5286375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9aea7ed89a845e8"/>
          </a:graphicData>
        </a:graphic>
      </p:graphicFrame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AD4A09AE-0D86-4FBD-A2E1-72E81284B06C}"/>
              </a:ext>
            </a:extLst>
          </p:cNvPr>
          <p:cNvGraphicFramePr/>
          <p:nvPr/>
        </p:nvGraphicFramePr>
        <p:xfrm>
          <a:off xmlns:a="http://schemas.openxmlformats.org/drawingml/2006/main" x="6181725" y="2333625"/>
          <a:ext xmlns:a="http://schemas.openxmlformats.org/drawingml/2006/main" cx="5286375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5a580b1f5cf4f50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281538-B074-46F2-975D-9ED27F6D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rPr>
              <a:t>500 customer-level bootstrap resamples preserve repeated dates per account.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AF33B7-C07C-471B-88AF-5C6D68BD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rPr>
              <a:t>Intervals condition on fitted models. Overlapping windows and calendar uncertainty remain.</a:t>
            </a:r>
          </a:p>
        </p:txBody>
      </p:sp>
    </p:spTree>
    <p:extLst>
      <p:ext uri="{BB962C8B-B14F-4D97-AF65-F5344CB8AC3E}">
        <p14:creationId xmlns:p14="http://schemas.microsoft.com/office/powerpoint/2010/main" val="3660164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67F306-6ED2-40FA-82F7-36FE9C63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AMAZON CUSTOMER VALUE  /  HISTORICAL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C3A260-514B-44D2-8806-955DEFF2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rPr>
              <a:t>Customer-value coverage under a contact budget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49A6C-C6B0-4BEE-BB07-DE313F46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rPr>
              <a:t>January 2022. Illustrative $1,000 budget at $1 per contact, selecting 1,000 accounts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A292A-9926-47A6-91B5-33D59F35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rPr>
              <a:t>Recorded purchase value · 2018 through October 2022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F84993-131C-4139-8C9D-007A01E3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rPr>
              <a:t>10 / 12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568B6840-2069-465E-9D50-3789304DE495}"/>
              </a:ext>
            </a:extLst>
          </p:cNvPr>
          <p:cNvGraphicFramePr/>
          <p:nvPr/>
        </p:nvGraphicFramePr>
        <p:xfrm>
          <a:off xmlns:a="http://schemas.openxmlformats.org/drawingml/2006/main" x="609600" y="2333625"/>
          <a:ext xmlns:a="http://schemas.openxmlformats.org/drawingml/2006/main" cx="528637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194cd664900457d"/>
          </a:graphicData>
        </a:graphic>
      </p:graphicFrame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BE528A67-4139-45B0-AE95-D1B46B4140AE}"/>
              </a:ext>
            </a:extLst>
          </p:cNvPr>
          <p:cNvGraphicFramePr/>
          <p:nvPr/>
        </p:nvGraphicFramePr>
        <p:xfrm>
          <a:off xmlns:a="http://schemas.openxmlformats.org/drawingml/2006/main" x="6181725" y="2333625"/>
          <a:ext xmlns:a="http://schemas.openxmlformats.org/drawingml/2006/main" cx="528637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97aeab460e741d5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C71890-10EF-45D6-975B-6D7DFD74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rPr>
              <a:t>Covered spending is observed value among selected accounts. A campaign’s incremental revenue cannot be estimated from these histories.</a:t>
            </a:r>
          </a:p>
        </p:txBody>
      </p:sp>
    </p:spTree>
    <p:extLst>
      <p:ext uri="{BB962C8B-B14F-4D97-AF65-F5344CB8AC3E}">
        <p14:creationId xmlns:p14="http://schemas.microsoft.com/office/powerpoint/2010/main" val="15523080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01AE6C-A9A9-4D4B-9956-509EF158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AMAZON CUSTOMER VALUE  /  HISTORICAL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791528-6027-4DED-BB1B-98AF01EC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rPr>
              <a:t>Gift-card sensitivity and customer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833C7C-72CF-4C84-83F5-8B3E2B28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rPr>
              <a:t>The independent sensitivity changes targets, cohort eligibility, and sometimes selected models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818576-C5C1-4F74-9B35-8DB1D2B9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rPr>
              <a:t>Recorded purchase value · 2018 through October 2022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059EAD-DFBA-4663-89AA-B0F1FB82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rPr>
              <a:t>11 / 12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AB903F-EA51-4E49-A866-0ADFBEE5A339}"/>
              </a:ext>
            </a:extLst>
          </p:cNvPr>
          <p:cNvGraphicFramePr/>
          <p:nvPr/>
        </p:nvGraphicFramePr>
        <p:xfrm>
          <a:off xmlns:a="http://schemas.openxmlformats.org/drawingml/2006/main" x="609600" y="2381250"/>
          <a:ext xmlns:a="http://schemas.openxmlformats.org/drawingml/2006/main" cx="109728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762000"/>
                <a:gridCol w="2571750"/>
                <a:gridCol w="2571750"/>
                <a:gridCol w="3257550"/>
              </a:tblGrid>
              <a:tr h="4953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E7EFF2"/>
                      </a:solidFill>
                      <a:prstDash val="solid"/>
                    </a:lnL>
                    <a:lnR w="6668">
                      <a:solidFill>
                        <a:srgbClr val="E7EFF2"/>
                      </a:solidFill>
                      <a:prstDash val="solid"/>
                    </a:lnR>
                    <a:lnT w="6668">
                      <a:solidFill>
                        <a:srgbClr val="E7EFF2"/>
                      </a:solidFill>
                      <a:prstDash val="solid"/>
                    </a:lnT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E7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Days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T w="6668">
                      <a:solidFill>
                        <a:srgbClr val="E7EFF2"/>
                      </a:solidFill>
                      <a:prstDash val="solid"/>
                    </a:lnT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E7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Primary normalized RMSE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T w="6668">
                      <a:solidFill>
                        <a:srgbClr val="E7EFF2"/>
                      </a:solidFill>
                      <a:prstDash val="solid"/>
                    </a:lnT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E7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No-gift normalized RMSE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T w="6668">
                      <a:solidFill>
                        <a:srgbClr val="E7EFF2"/>
                      </a:solidFill>
                      <a:prstDash val="solid"/>
                    </a:lnT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E7EF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No-gift model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T w="6668">
                      <a:solidFill>
                        <a:srgbClr val="E7EFF2"/>
                      </a:solidFill>
                      <a:prstDash val="solid"/>
                    </a:lnT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E7EFF2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2022-01-01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E7EFF2"/>
                      </a:solidFill>
                      <a:prstDash val="solid"/>
                    </a:lnL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1.072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1.096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hgb_0.05_31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2022-05-01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E7EFF2"/>
                      </a:solidFill>
                      <a:prstDash val="solid"/>
                    </a:lnL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0.975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0.996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hgb_0.05_31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2022-01-01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E7EFF2"/>
                      </a:solidFill>
                      <a:prstDash val="solid"/>
                    </a:lnL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0.876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0.882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ridge_10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2022-05-01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E7EFF2"/>
                      </a:solidFill>
                      <a:prstDash val="solid"/>
                    </a:lnL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0.809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ridge_10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E7EFF2"/>
                      </a:solidFill>
                      <a:prstDash val="solid"/>
                    </a:lnR>
                    <a:lnB w="6668">
                      <a:solidFill>
                        <a:srgbClr val="E7EFF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59BE45-9F92-4272-8A85-5BF5C16F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rPr>
              <a:t>Dollar RMSE declines after excluding gift-card titles, while normalized errors worsen slightly.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B2E4A5-C93F-4FE1-AF33-32EC6340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rPr>
              <a:t>Separate error tables cover short histories, inactive accounts, and high historical spenders. Feature importance measures predictive association.</a:t>
            </a:r>
          </a:p>
        </p:txBody>
      </p:sp>
    </p:spTree>
    <p:extLst>
      <p:ext uri="{BB962C8B-B14F-4D97-AF65-F5344CB8AC3E}">
        <p14:creationId xmlns:p14="http://schemas.microsoft.com/office/powerpoint/2010/main" val="5490874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11B386-EF0F-451A-82F5-3D1C28DB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AMAZON CUSTOMER VALUE  /  HISTORICAL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70CEBF-2947-414B-A7E2-DC5BD4EC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D42"/>
                </a:solidFill>
                <a:latin typeface="Helvetica Neue"/>
                <a:ea typeface="Helvetica Neue"/>
                <a:cs typeface="Helvetica Neue"/>
              </a:rPr>
              <a:t>Scope, limitations, and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70D273-DEA4-41ED-9598-5F8D758E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rPr>
              <a:t>A reproducible historical portfolio with explicit limits on business claims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1F0A22-C4EB-450F-AF61-CAD6E258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rPr>
              <a:t>Recorded purchase value · 2018 through October 2022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E4055C-75F5-49B7-9A17-C6793F6D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293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rPr>
              <a:t>12 /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425323-E150-4CE1-98C5-732AC747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What the evidence supports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5475F4-570F-4A14-A23D-CB7FD883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5143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rPr>
              <a:t>Fixed-horizon recorded spending forecasts.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rPr>
              <a:t>Ranked audience coverage under an assumed uniform contact cost.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rPr>
              <a:t>Reproducible models, predictions, notebooks, and dashboard exports.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7B21D2-1588-4AC3-9FB8-A8BAA9CF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28875"/>
            <a:ext cx="519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087E83"/>
                </a:solidFill>
                <a:latin typeface="Helvetica Neue"/>
                <a:ea typeface="Helvetica Neue"/>
                <a:cs typeface="Helvetica Neue"/>
              </a:rPr>
              <a:t>What additional data must resolve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B6ED28-6707-41F2-90B6-D50C6088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90850"/>
            <a:ext cx="509587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rPr>
              <a:t>Consent and survival bias, shared accounts, incomplete tenure, and future-time drift.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2D42"/>
                </a:solidFill>
                <a:latin typeface="Helvetica Neue"/>
                <a:ea typeface="Helvetica Neue"/>
                <a:cs typeface="Helvetica Neue"/>
              </a:rPr>
              <a:t>Campaign uplift and profit require randomized treatment outcomes, costs, and margins.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B64B81-336C-47B1-A578-21805D4E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878"/>
                </a:solidFill>
                <a:latin typeface="Helvetica Neue"/>
                <a:ea typeface="Helvetica Neue"/>
                <a:cs typeface="Helvetica Neue"/>
              </a:rPr>
              <a:t>Technical walkthrough: README, work log, interview guide, split audit, model card, and measured results. Local release only.</a:t>
            </a:r>
          </a:p>
        </p:txBody>
      </p:sp>
    </p:spTree>
    <p:extLst>
      <p:ext uri="{BB962C8B-B14F-4D97-AF65-F5344CB8AC3E}">
        <p14:creationId xmlns:p14="http://schemas.microsoft.com/office/powerpoint/2010/main" val="16499848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2026-10-18T13:16:46.0660000Z</dcterms:created>
  <dcterms:modified xsi:type="dcterms:W3CDTF">2026-10-18T13:16:46.0660000Z</dcterms:modified>
</coreProperties>
</file>